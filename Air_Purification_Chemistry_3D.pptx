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57200" y="914400"/>
            <a:ext cx="731520" cy="731520"/>
          </a:xfrm>
          <a:prstGeom prst="ellipse">
            <a:avLst/>
          </a:prstGeom>
          <a:solidFill>
            <a:srgbClr val="00BFF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O₂</a:t>
            </a:r>
          </a:p>
        </p:txBody>
      </p:sp>
      <p:sp>
        <p:nvSpPr>
          <p:cNvPr id="3" name="Oval 2"/>
          <p:cNvSpPr/>
          <p:nvPr/>
        </p:nvSpPr>
        <p:spPr>
          <a:xfrm>
            <a:off x="7772400" y="1828800"/>
            <a:ext cx="548640" cy="548640"/>
          </a:xfrm>
          <a:prstGeom prst="ellipse">
            <a:avLst/>
          </a:prstGeom>
          <a:solidFill>
            <a:srgbClr val="FF69B4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CO₂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5029200"/>
            <a:ext cx="640080" cy="640080"/>
          </a:xfrm>
          <a:prstGeom prst="ellipse">
            <a:avLst/>
          </a:prstGeom>
          <a:solidFill>
            <a:srgbClr val="32CD32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N₂</a:t>
            </a:r>
          </a:p>
        </p:txBody>
      </p:sp>
      <p:sp>
        <p:nvSpPr>
          <p:cNvPr id="5" name="Oval 4"/>
          <p:cNvSpPr/>
          <p:nvPr/>
        </p:nvSpPr>
        <p:spPr>
          <a:xfrm>
            <a:off x="7315200" y="5486400"/>
            <a:ext cx="457200" cy="457200"/>
          </a:xfrm>
          <a:prstGeom prst="ellipse">
            <a:avLst/>
          </a:prstGeom>
          <a:solidFill>
            <a:srgbClr val="FFD7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H₂O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00FFFF"/>
                </a:solidFill>
              </a:defRPr>
            </a:pPr>
            <a:r>
              <a:t>Chemistry Behind Air Purification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1E90FF"/>
                </a:solidFill>
              </a:defRPr>
            </a:pPr>
            <a:r>
              <a:t>in Air Conditioning Units (AUC)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 b="0">
                <a:solidFill>
                  <a:srgbClr val="FFFFFF"/>
                </a:solidFill>
              </a:defRPr>
            </a:pPr>
            <a:r>
              <a:t>🔬 Dive into the Molecular World of Clean Air 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0">
                <a:solidFill>
                  <a:srgbClr val="FFFFFF"/>
                </a:solidFill>
              </a:defRPr>
            </a:pPr>
            <a:r>
              <a:t>Date: November 13,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FFFF"/>
                </a:solidFill>
              </a:defRPr>
            </a:pPr>
            <a:r>
              <a:t>What is Air Purification? (3D Diagram)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828800"/>
            <a:ext cx="1828800" cy="1097280"/>
          </a:xfrm>
          <a:prstGeom prst="roundRect">
            <a:avLst/>
          </a:prstGeom>
          <a:solidFill>
            <a:srgbClr val="FF45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Dirty Air</a:t>
            </a:r>
          </a:p>
          <a:p>
            <a:r>
              <a:t>💨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743200" y="2194560"/>
            <a:ext cx="914400" cy="365760"/>
          </a:xfrm>
          <a:prstGeom prst="rightArrow">
            <a:avLst/>
          </a:prstGeom>
          <a:solidFill>
            <a:srgbClr val="1E90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840480" y="1828800"/>
            <a:ext cx="1828800" cy="1097280"/>
          </a:xfrm>
          <a:prstGeom prst="roundRect">
            <a:avLst/>
          </a:prstGeom>
          <a:solidFill>
            <a:srgbClr val="8A2BE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AUC</a:t>
            </a:r>
          </a:p>
          <a:p>
            <a:r>
              <a:t>Chemistry ⚗️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52160" y="2194560"/>
            <a:ext cx="914400" cy="365760"/>
          </a:xfrm>
          <a:prstGeom prst="rightArrow">
            <a:avLst/>
          </a:prstGeom>
          <a:solidFill>
            <a:srgbClr val="1E90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949440" y="1828800"/>
            <a:ext cx="1828800" cy="1097280"/>
          </a:xfrm>
          <a:prstGeom prst="roundRect">
            <a:avLst/>
          </a:prstGeom>
          <a:solidFill>
            <a:srgbClr val="32CD3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Clean Air</a:t>
            </a:r>
          </a:p>
          <a:p>
            <a:r>
              <a:t>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657600"/>
            <a:ext cx="6400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• Air purification removes pollutants like dust, odors, and germs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• In AUC, chemistry uses chemical reactions to clean air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• Multiple layers of filtration and chemical processes</a:t>
            </a:r>
          </a:p>
          <a:p>
            <a:pPr>
              <a:spcAft>
                <a:spcPts val="1200"/>
              </a:spcAft>
              <a:defRPr sz="2200">
                <a:solidFill>
                  <a:srgbClr val="FFFFFF"/>
                </a:solidFill>
              </a:defRPr>
            </a:pPr>
            <a:r>
              <a:t>• Result: Fresh, breathable air for indoor spaces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FFFF"/>
                </a:solidFill>
              </a:defRPr>
            </a:pPr>
            <a:r>
              <a:t>Common Pollutants (3D Molecules)</a:t>
            </a:r>
          </a:p>
        </p:txBody>
      </p:sp>
      <p:sp>
        <p:nvSpPr>
          <p:cNvPr id="3" name="Oval 2"/>
          <p:cNvSpPr/>
          <p:nvPr/>
        </p:nvSpPr>
        <p:spPr>
          <a:xfrm>
            <a:off x="1371600" y="1828800"/>
            <a:ext cx="1097280" cy="1097280"/>
          </a:xfrm>
          <a:prstGeom prst="ellipse">
            <a:avLst/>
          </a:prstGeom>
          <a:solidFill>
            <a:srgbClr val="8B4513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0175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Dust Particles</a:t>
            </a:r>
          </a:p>
        </p:txBody>
      </p:sp>
      <p:sp>
        <p:nvSpPr>
          <p:cNvPr id="5" name="Oval 4"/>
          <p:cNvSpPr/>
          <p:nvPr/>
        </p:nvSpPr>
        <p:spPr>
          <a:xfrm>
            <a:off x="5029200" y="1828800"/>
            <a:ext cx="1097280" cy="1097280"/>
          </a:xfrm>
          <a:prstGeom prst="ellipse">
            <a:avLst/>
          </a:prstGeom>
          <a:solidFill>
            <a:srgbClr val="FF00F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0175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Benzene (C₆H₆)</a:t>
            </a:r>
          </a:p>
        </p:txBody>
      </p:sp>
      <p:sp>
        <p:nvSpPr>
          <p:cNvPr id="7" name="Oval 6"/>
          <p:cNvSpPr/>
          <p:nvPr/>
        </p:nvSpPr>
        <p:spPr>
          <a:xfrm>
            <a:off x="1371600" y="4114800"/>
            <a:ext cx="1097280" cy="1097280"/>
          </a:xfrm>
          <a:prstGeom prst="ellipse">
            <a:avLst/>
          </a:prstGeom>
          <a:solidFill>
            <a:srgbClr val="FF0000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035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Viruses/Bacteria</a:t>
            </a:r>
          </a:p>
        </p:txBody>
      </p:sp>
      <p:sp>
        <p:nvSpPr>
          <p:cNvPr id="9" name="Oval 8"/>
          <p:cNvSpPr/>
          <p:nvPr/>
        </p:nvSpPr>
        <p:spPr>
          <a:xfrm>
            <a:off x="5029200" y="4114800"/>
            <a:ext cx="1097280" cy="1097280"/>
          </a:xfrm>
          <a:prstGeom prst="ellipse">
            <a:avLst/>
          </a:prstGeom>
          <a:solidFill>
            <a:srgbClr val="6495ED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CO₂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5303520"/>
            <a:ext cx="2011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</a:defRPr>
            </a:pPr>
            <a:r>
              <a:t>CO₂ Gas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800" b="1">
                <a:solidFill>
                  <a:srgbClr val="00FFFF"/>
                </a:solidFill>
              </a:defRPr>
            </a:pPr>
            <a:r>
              <a:t>Basic Cleaning Methods (3D Filter Model)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1828800"/>
            <a:ext cx="3200400" cy="1645920"/>
          </a:xfrm>
          <a:prstGeom prst="roundRect">
            <a:avLst/>
          </a:prstGeom>
          <a:solidFill>
            <a:srgbClr val="4682B4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🕸️ Physical Filters</a:t>
            </a:r>
          </a:p>
          <a:p>
            <a:pPr algn="ctr">
              <a:spcBef>
                <a:spcPts val="600"/>
              </a:spcBef>
              <a:defRPr sz="1400">
                <a:solidFill>
                  <a:srgbClr val="FFFFFF"/>
                </a:solidFill>
              </a:defRPr>
            </a:pPr>
            <a:r>
              <a:t>3D mesh network traps</a:t>
            </a:r>
            <a:br/>
            <a:r>
              <a:t>particles mechanically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0" y="1828800"/>
            <a:ext cx="3200400" cy="1645920"/>
          </a:xfrm>
          <a:prstGeom prst="roundRect">
            <a:avLst/>
          </a:prstGeom>
          <a:solidFill>
            <a:srgbClr val="40404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🧽 Activated Carbon</a:t>
            </a:r>
          </a:p>
          <a:p>
            <a:pPr algn="ctr">
              <a:spcBef>
                <a:spcPts val="600"/>
              </a:spcBef>
              <a:defRPr sz="1400">
                <a:solidFill>
                  <a:srgbClr val="FFFFFF"/>
                </a:solidFill>
              </a:defRPr>
            </a:pPr>
            <a:r>
              <a:t>Porous 3D structure</a:t>
            </a:r>
            <a:br/>
            <a:r>
              <a:t>absorbs gases &amp; odors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4389120"/>
            <a:ext cx="3200400" cy="1645920"/>
          </a:xfrm>
          <a:prstGeom prst="roundRect">
            <a:avLst/>
          </a:prstGeom>
          <a:solidFill>
            <a:srgbClr val="228B22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🔬 HEPA Filtration</a:t>
            </a:r>
          </a:p>
          <a:p>
            <a:pPr algn="ctr">
              <a:spcBef>
                <a:spcPts val="600"/>
              </a:spcBef>
              <a:defRPr sz="1400">
                <a:solidFill>
                  <a:srgbClr val="FFFFFF"/>
                </a:solidFill>
              </a:defRPr>
            </a:pPr>
            <a:r>
              <a:t>Ultra-fine 3D fibers</a:t>
            </a:r>
            <a:br/>
            <a:r>
              <a:t>capture 99.97% particles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0" y="4389120"/>
            <a:ext cx="3200400" cy="1645920"/>
          </a:xfrm>
          <a:prstGeom prst="roundRect">
            <a:avLst/>
          </a:prstGeom>
          <a:solidFill>
            <a:srgbClr val="FFD700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000" b="1">
                <a:solidFill>
                  <a:srgbClr val="FFFFFF"/>
                </a:solidFill>
              </a:defRPr>
            </a:pPr>
            <a:r>
              <a:t>⚡ Electrostatic</a:t>
            </a:r>
          </a:p>
          <a:p>
            <a:pPr algn="ctr">
              <a:spcBef>
                <a:spcPts val="600"/>
              </a:spcBef>
              <a:defRPr sz="1400">
                <a:solidFill>
                  <a:srgbClr val="FFFFFF"/>
                </a:solidFill>
              </a:defRPr>
            </a:pPr>
            <a:r>
              <a:t>Charged 3D plates</a:t>
            </a:r>
            <a:br/>
            <a:r>
              <a:t>attract pollutants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00FFFF"/>
                </a:solidFill>
              </a:defRPr>
            </a:pPr>
            <a:r>
              <a:t>Advanced Chemistry (3D Reactions)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7680960" cy="1371600"/>
          </a:xfrm>
          <a:prstGeom prst="roundRect">
            <a:avLst/>
          </a:prstGeom>
          <a:solidFill>
            <a:srgbClr val="8A2BE2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⚗️ Photocatalytic Oxidation</a:t>
            </a:r>
          </a:p>
          <a:p>
            <a:pPr>
              <a:spcBef>
                <a:spcPts val="600"/>
              </a:spcBef>
              <a:defRPr sz="1800">
                <a:solidFill>
                  <a:srgbClr val="FFFF00"/>
                </a:solidFill>
              </a:defRPr>
            </a:pPr>
            <a:r>
              <a:t>Reaction: UV + TiO₂ → •OH radicals</a:t>
            </a:r>
          </a:p>
          <a:p>
            <a:pPr>
              <a:spcBef>
                <a:spcPts val="400"/>
              </a:spcBef>
              <a:defRPr sz="1600">
                <a:solidFill>
                  <a:srgbClr val="FFFFFF"/>
                </a:solidFill>
              </a:defRPr>
            </a:pPr>
            <a:r>
              <a:t>→ Breaks down organic pollutants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3200400"/>
            <a:ext cx="7680960" cy="1371600"/>
          </a:xfrm>
          <a:prstGeom prst="roundRect">
            <a:avLst/>
          </a:prstGeom>
          <a:solidFill>
            <a:srgbClr val="1E90FF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⚗️ Ionization</a:t>
            </a:r>
          </a:p>
          <a:p>
            <a:pPr>
              <a:spcBef>
                <a:spcPts val="600"/>
              </a:spcBef>
              <a:defRPr sz="1800">
                <a:solidFill>
                  <a:srgbClr val="FFFF00"/>
                </a:solidFill>
              </a:defRPr>
            </a:pPr>
            <a:r>
              <a:t>Reaction: Air → Ions (+ / -)</a:t>
            </a:r>
          </a:p>
          <a:p>
            <a:pPr>
              <a:spcBef>
                <a:spcPts val="400"/>
              </a:spcBef>
              <a:defRPr sz="1600">
                <a:solidFill>
                  <a:srgbClr val="FFFFFF"/>
                </a:solidFill>
              </a:defRPr>
            </a:pPr>
            <a:r>
              <a:t>→ Charged particles attract pollutants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5029200"/>
            <a:ext cx="7680960" cy="1371600"/>
          </a:xfrm>
          <a:prstGeom prst="roundRect">
            <a:avLst/>
          </a:prstGeom>
          <a:solidFill>
            <a:srgbClr val="FF8C00"/>
          </a:solidFill>
          <a:ln w="381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⚗️ Ozone Treatment</a:t>
            </a:r>
          </a:p>
          <a:p>
            <a:pPr>
              <a:spcBef>
                <a:spcPts val="600"/>
              </a:spcBef>
              <a:defRPr sz="1800">
                <a:solidFill>
                  <a:srgbClr val="FFFF00"/>
                </a:solidFill>
              </a:defRPr>
            </a:pPr>
            <a:r>
              <a:t>Reaction: O₃ + Pollutants → O₂ + Safe compounds</a:t>
            </a:r>
          </a:p>
          <a:p>
            <a:pPr>
              <a:spcBef>
                <a:spcPts val="400"/>
              </a:spcBef>
              <a:defRPr sz="1600">
                <a:solidFill>
                  <a:srgbClr val="FFFFFF"/>
                </a:solidFill>
              </a:defRPr>
            </a:pPr>
            <a:r>
              <a:t>→ Oxidizes and neutralizes contaminants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00FFFF"/>
                </a:solidFill>
              </a:defRPr>
            </a:pPr>
            <a:r>
              <a:t>Summary &amp; Future (3D View)</a:t>
            </a:r>
          </a:p>
        </p:txBody>
      </p:sp>
      <p:sp>
        <p:nvSpPr>
          <p:cNvPr id="3" name="Oval 2"/>
          <p:cNvSpPr/>
          <p:nvPr/>
        </p:nvSpPr>
        <p:spPr>
          <a:xfrm>
            <a:off x="3657600" y="1828800"/>
            <a:ext cx="1828800" cy="1828800"/>
          </a:xfrm>
          <a:prstGeom prst="ellipse">
            <a:avLst/>
          </a:prstGeom>
          <a:solidFill>
            <a:srgbClr val="00BFF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114800"/>
            <a:ext cx="73152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1000"/>
              </a:spcAft>
              <a:defRPr sz="2200" b="1">
                <a:solidFill>
                  <a:srgbClr val="FFFFFF"/>
                </a:solidFill>
              </a:defRPr>
            </a:pPr>
            <a:r>
              <a:t>✓ Chemistry cleans air through multiple 3D processes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FFFFFF"/>
                </a:solidFill>
              </a:defRPr>
            </a:pPr>
            <a:r>
              <a:t>✓ Physical, chemical, and biological methods work together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FFFFFF"/>
                </a:solidFill>
              </a:defRPr>
            </a:pPr>
            <a:r>
              <a:t>✓ Advanced oxidation breaks down harmful molecules</a:t>
            </a:r>
          </a:p>
          <a:p>
            <a:pPr algn="ctr">
              <a:spcAft>
                <a:spcPts val="1000"/>
              </a:spcAft>
              <a:defRPr sz="2200" b="1">
                <a:solidFill>
                  <a:srgbClr val="FFFFFF"/>
                </a:solidFill>
              </a:defRPr>
            </a:pPr>
            <a:r>
              <a:t>✓ Future: Nano-materials &amp; AI-optimized purification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594360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0FF7F"/>
                </a:solidFill>
              </a:defRPr>
            </a:pPr>
            <a:r>
              <a:t>🌟 Breathe Easy with Chemistry! 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6583680"/>
            <a:ext cx="2743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FFFFFF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