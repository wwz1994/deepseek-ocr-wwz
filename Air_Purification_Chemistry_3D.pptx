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00BFF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O₂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FF69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CO₂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5029200"/>
            <a:ext cx="640080" cy="640080"/>
          </a:xfrm>
          <a:prstGeom prst="ellipse">
            <a:avLst/>
          </a:prstGeom>
          <a:solidFill>
            <a:srgbClr val="32C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N₂</a:t>
            </a:r>
          </a:p>
        </p:txBody>
      </p:sp>
      <p:sp>
        <p:nvSpPr>
          <p:cNvPr id="5" name="Oval 4"/>
          <p:cNvSpPr/>
          <p:nvPr/>
        </p:nvSpPr>
        <p:spPr>
          <a:xfrm>
            <a:off x="7315200" y="5486400"/>
            <a:ext cx="457200" cy="45720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H₂O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FF"/>
                </a:solidFill>
              </a:defRPr>
            </a:pPr>
            <a:r>
              <a:t>Chemistry Behind Air Purification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90FF"/>
                </a:solidFill>
              </a:defRPr>
            </a:pPr>
            <a:r>
              <a:t>in Air Conditioning Units (AUC)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🔬 Dive into the Molecular World of Clean Air 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Date: November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FF"/>
                </a:solidFill>
              </a:defRPr>
            </a:pPr>
            <a:r>
              <a:t>What is Air Purification? (3D Diagram)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28800" cy="1097280"/>
          </a:xfrm>
          <a:prstGeom prst="roundRect">
            <a:avLst/>
          </a:prstGeom>
          <a:solidFill>
            <a:srgbClr val="FF4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Dirty Air</a:t>
            </a:r>
          </a:p>
          <a:p>
            <a:r>
              <a:t>💨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43200" y="2194560"/>
            <a:ext cx="914400" cy="365760"/>
          </a:xfrm>
          <a:prstGeom prst="rightArrow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828800"/>
            <a:ext cx="1828800" cy="1097280"/>
          </a:xfrm>
          <a:prstGeom prst="round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AUC</a:t>
            </a:r>
          </a:p>
          <a:p>
            <a:r>
              <a:t>Chemistry ⚗️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60" y="2194560"/>
            <a:ext cx="914400" cy="365760"/>
          </a:xfrm>
          <a:prstGeom prst="rightArrow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1828800" cy="1097280"/>
          </a:xfrm>
          <a:prstGeom prst="roundRect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Clean Air</a:t>
            </a:r>
          </a:p>
          <a:p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Air purification removes pollutants like dust, odors, and germs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In AUC, chemistry uses chemical reactions to clean air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Multiple layers of filtration and chemical processes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Result: Fresh, breathable air for indoor spaces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FF"/>
                </a:solidFill>
              </a:defRPr>
            </a:pPr>
            <a:r>
              <a:t>Common Pollutants (3D Molecules)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1097280" cy="1097280"/>
          </a:xfrm>
          <a:prstGeom prst="ellipse">
            <a:avLst/>
          </a:prstGeom>
          <a:solidFill>
            <a:srgbClr val="8B451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Dust Particles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1828800"/>
            <a:ext cx="1097280" cy="1097280"/>
          </a:xfrm>
          <a:prstGeom prst="ellipse">
            <a:avLst/>
          </a:prstGeom>
          <a:solidFill>
            <a:srgbClr val="FF00F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Benzene (C₆H₆)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114800"/>
            <a:ext cx="1097280" cy="109728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Viruses/Bacteria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4114800"/>
            <a:ext cx="1097280" cy="1097280"/>
          </a:xfrm>
          <a:prstGeom prst="ellipse">
            <a:avLst/>
          </a:prstGeom>
          <a:solidFill>
            <a:srgbClr val="6495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CO₂ Gas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FFFF"/>
                </a:solidFill>
              </a:defRPr>
            </a:pPr>
            <a:r>
              <a:t>Basic Cleaning Methods (3D Filter Model)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4682B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🕸️ Physical Filters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3D mesh network traps</a:t>
            </a:r>
            <a:br/>
            <a:r>
              <a:t>particles mechanically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3200400" cy="1645920"/>
          </a:xfrm>
          <a:prstGeom prst="roundRect">
            <a:avLst/>
          </a:prstGeom>
          <a:solidFill>
            <a:srgbClr val="40404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🧽 Activated Carbon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Porous 3D structure</a:t>
            </a:r>
            <a:br/>
            <a:r>
              <a:t>absorbs gases &amp; odors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3200400" cy="164592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🔬 HEPA Filtration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Ultra-fine 3D fibers</a:t>
            </a:r>
            <a:br/>
            <a:r>
              <a:t>capture 99.97%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389120"/>
            <a:ext cx="3200400" cy="164592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⚡ Electrostatic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Charged 3D plates</a:t>
            </a:r>
            <a:br/>
            <a:r>
              <a:t>attract pollutants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FF"/>
                </a:solidFill>
              </a:defRPr>
            </a:pPr>
            <a:r>
              <a:t>Advanced Chemistry (3D Reactions)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680960" cy="1371600"/>
          </a:xfrm>
          <a:prstGeom prst="roundRect">
            <a:avLst/>
          </a:prstGeom>
          <a:solidFill>
            <a:srgbClr val="8A2BE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⚗️ Photocatalytic Oxidation</a:t>
            </a:r>
          </a:p>
          <a:p>
            <a:pPr>
              <a:spcBef>
                <a:spcPts val="600"/>
              </a:spcBef>
              <a:defRPr sz="1800">
                <a:solidFill>
                  <a:srgbClr val="FFFF00"/>
                </a:solidFill>
              </a:defRPr>
            </a:pPr>
            <a:r>
              <a:t>Reaction: UV + TiO₂ → •OH radicals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→ Breaks down organic pollutants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7680960" cy="1371600"/>
          </a:xfrm>
          <a:prstGeom prst="roundRect">
            <a:avLst/>
          </a:prstGeom>
          <a:solidFill>
            <a:srgbClr val="1E90F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⚗️ Ionization</a:t>
            </a:r>
          </a:p>
          <a:p>
            <a:pPr>
              <a:spcBef>
                <a:spcPts val="600"/>
              </a:spcBef>
              <a:defRPr sz="1800">
                <a:solidFill>
                  <a:srgbClr val="FFFF00"/>
                </a:solidFill>
              </a:defRPr>
            </a:pPr>
            <a:r>
              <a:t>Reaction: Air → Ions (+ / -)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→ Charged particles attract pollutants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7680960" cy="1371600"/>
          </a:xfrm>
          <a:prstGeom prst="roundRect">
            <a:avLst/>
          </a:prstGeom>
          <a:solidFill>
            <a:srgbClr val="FF8C0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⚗️ Ozone Treatment</a:t>
            </a:r>
          </a:p>
          <a:p>
            <a:pPr>
              <a:spcBef>
                <a:spcPts val="600"/>
              </a:spcBef>
              <a:defRPr sz="1800">
                <a:solidFill>
                  <a:srgbClr val="FFFF00"/>
                </a:solidFill>
              </a:defRPr>
            </a:pPr>
            <a:r>
              <a:t>Reaction: O₃ + Pollutants → O₂ + Safe compounds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→ Oxidizes and neutralizes contaminants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Summary &amp; Future (3D View)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00BFF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✓ Chemistry cleans air through multiple 3D processes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✓ Physical, chemical, and biological methods work together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✓ Advanced oxidation breaks down harmful molecules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✓ Future: Nano-materials &amp; AI-optimized purification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7F"/>
                </a:solidFill>
              </a:defRPr>
            </a:pPr>
            <a:r>
              <a:t>🌟 Breathe Easy with Chemistry!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