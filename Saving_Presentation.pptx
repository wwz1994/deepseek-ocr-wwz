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The Art of Saving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Financial Security for Your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Saving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Financial Security: Protection against unexpected expenses</a:t>
            </a:r>
          </a:p>
          <a:p>
            <a:pPr>
              <a:spcAft>
                <a:spcPts val="1200"/>
              </a:spcAft>
              <a:defRPr sz="1800"/>
            </a:pPr>
            <a:r>
              <a:t>Peace of Mind: Reduced stress about money matters</a:t>
            </a:r>
          </a:p>
          <a:p>
            <a:pPr>
              <a:spcAft>
                <a:spcPts val="1200"/>
              </a:spcAft>
              <a:defRPr sz="1800"/>
            </a:pPr>
            <a:r>
              <a:t>Future Goals: Ability to achieve dreams and aspirations</a:t>
            </a:r>
          </a:p>
          <a:p>
            <a:pPr>
              <a:spcAft>
                <a:spcPts val="1200"/>
              </a:spcAft>
              <a:defRPr sz="1800"/>
            </a:pPr>
            <a:r>
              <a:t>Independence: Freedom from debt and financial constraints</a:t>
            </a:r>
          </a:p>
          <a:p>
            <a:pPr>
              <a:spcAft>
                <a:spcPts val="1200"/>
              </a:spcAft>
              <a:defRPr sz="1800"/>
            </a:pPr>
            <a:r>
              <a:t>Opportunities: Flexibility to seize life's chances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Types of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Emergency Fund: 3-6 months of living expenses</a:t>
            </a:r>
          </a:p>
          <a:p>
            <a:pPr>
              <a:spcAft>
                <a:spcPts val="1200"/>
              </a:spcAft>
              <a:defRPr sz="1800"/>
            </a:pPr>
            <a:r>
              <a:t>Short-term Savings: Goals within 1-3 years (vacation, car)</a:t>
            </a:r>
          </a:p>
          <a:p>
            <a:pPr>
              <a:spcAft>
                <a:spcPts val="1200"/>
              </a:spcAft>
              <a:defRPr sz="1800"/>
            </a:pPr>
            <a:r>
              <a:t>Medium-term Savings: Goals within 3-10 years (home down payment)</a:t>
            </a:r>
          </a:p>
          <a:p>
            <a:pPr>
              <a:spcAft>
                <a:spcPts val="1200"/>
              </a:spcAft>
              <a:defRPr sz="1800"/>
            </a:pPr>
            <a:r>
              <a:t>Long-term Savings: Retirement and distant future needs</a:t>
            </a:r>
          </a:p>
          <a:p>
            <a:pPr>
              <a:spcAft>
                <a:spcPts val="1200"/>
              </a:spcAft>
              <a:defRPr sz="1800"/>
            </a:pPr>
            <a:r>
              <a:t>Specialized Savings: Education, healthcare, major purchases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50/30/20 Budgeting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50% - Needs: Essential expenses (housing, food, utilities)</a:t>
            </a:r>
          </a:p>
          <a:p>
            <a:pPr>
              <a:spcAft>
                <a:spcPts val="1200"/>
              </a:spcAft>
              <a:defRPr sz="1800"/>
            </a:pPr>
            <a:r>
              <a:t>30% - Wants: Discretionary spending (entertainment, dining)</a:t>
            </a:r>
          </a:p>
          <a:p>
            <a:pPr>
              <a:spcAft>
                <a:spcPts val="1200"/>
              </a:spcAft>
              <a:defRPr sz="1800"/>
            </a:pPr>
            <a:r>
              <a:t>20% - Savings: Emergency fund, retirement, debt repayment</a:t>
            </a:r>
          </a:p>
          <a:p>
            <a:pPr>
              <a:spcAft>
                <a:spcPts val="1200"/>
              </a:spcAft>
              <a:defRPr sz="1800"/>
            </a:pPr>
            <a:r>
              <a:t>Adjust percentages based on your personal situation</a:t>
            </a:r>
          </a:p>
          <a:p>
            <a:pPr>
              <a:spcAft>
                <a:spcPts val="1200"/>
              </a:spcAft>
              <a:defRPr sz="1800"/>
            </a:pPr>
            <a:r>
              <a:t>Track spending to ensure you're meeting your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Effective Saving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Pay Yourself First: Automate savings before spending</a:t>
            </a:r>
          </a:p>
          <a:p>
            <a:pPr>
              <a:spcAft>
                <a:spcPts val="1200"/>
              </a:spcAft>
              <a:defRPr sz="1800"/>
            </a:pPr>
            <a:r>
              <a:t>Set Clear Goals: Define specific, measurable targets</a:t>
            </a:r>
          </a:p>
          <a:p>
            <a:pPr>
              <a:spcAft>
                <a:spcPts val="1200"/>
              </a:spcAft>
              <a:defRPr sz="1800"/>
            </a:pPr>
            <a:r>
              <a:t>Track Expenses: Know where your money goes</a:t>
            </a:r>
          </a:p>
          <a:p>
            <a:pPr>
              <a:spcAft>
                <a:spcPts val="1200"/>
              </a:spcAft>
              <a:defRPr sz="1800"/>
            </a:pPr>
            <a:r>
              <a:t>Reduce Unnecessary Costs: Cut subscriptions and impulse buys</a:t>
            </a:r>
          </a:p>
          <a:p>
            <a:pPr>
              <a:spcAft>
                <a:spcPts val="1200"/>
              </a:spcAft>
              <a:defRPr sz="1800"/>
            </a:pPr>
            <a:r>
              <a:t>Increase Income: Side hustles and skill development</a:t>
            </a:r>
          </a:p>
          <a:p>
            <a:pPr>
              <a:spcAft>
                <a:spcPts val="1200"/>
              </a:spcAft>
              <a:defRPr sz="1800"/>
            </a:pPr>
            <a:r>
              <a:t>Use High-Yield Accounts: Maximize interest earnings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Building an Emergency Fund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Start Small: Begin with $500-$1,000 as initial goal</a:t>
            </a:r>
          </a:p>
          <a:p>
            <a:pPr>
              <a:spcAft>
                <a:spcPts val="1200"/>
              </a:spcAft>
              <a:defRPr sz="1800"/>
            </a:pPr>
            <a:r>
              <a:t>Calculate Needs: 3-6 months of essential expenses</a:t>
            </a:r>
          </a:p>
          <a:p>
            <a:pPr>
              <a:spcAft>
                <a:spcPts val="1200"/>
              </a:spcAft>
              <a:defRPr sz="1800"/>
            </a:pPr>
            <a:r>
              <a:t>Keep It Accessible: Use savings account, not investments</a:t>
            </a:r>
          </a:p>
          <a:p>
            <a:pPr>
              <a:spcAft>
                <a:spcPts val="1200"/>
              </a:spcAft>
              <a:defRPr sz="1800"/>
            </a:pPr>
            <a:r>
              <a:t>Separate Account: Don't mix with regular spending money</a:t>
            </a:r>
          </a:p>
          <a:p>
            <a:pPr>
              <a:spcAft>
                <a:spcPts val="1200"/>
              </a:spcAft>
              <a:defRPr sz="1800"/>
            </a:pPr>
            <a:r>
              <a:t>Replenish After Use: Rebuild fund after emergencies</a:t>
            </a:r>
          </a:p>
          <a:p>
            <a:pPr>
              <a:spcAft>
                <a:spcPts val="1200"/>
              </a:spcAft>
              <a:defRPr sz="1800"/>
            </a:pPr>
            <a:r>
              <a:t>Review Annually: Adjust for life changes and inflation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Saving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No Clear Goals: Saving without purpose leads to failure</a:t>
            </a:r>
          </a:p>
          <a:p>
            <a:pPr>
              <a:spcAft>
                <a:spcPts val="1200"/>
              </a:spcAft>
              <a:defRPr sz="1800"/>
            </a:pPr>
            <a:r>
              <a:t>Lifestyle Inflation: Spending more as income increases</a:t>
            </a:r>
          </a:p>
          <a:p>
            <a:pPr>
              <a:spcAft>
                <a:spcPts val="1200"/>
              </a:spcAft>
              <a:defRPr sz="1800"/>
            </a:pPr>
            <a:r>
              <a:t>Ignoring Small Expenses: Daily coffee adds up over time</a:t>
            </a:r>
          </a:p>
          <a:p>
            <a:pPr>
              <a:spcAft>
                <a:spcPts val="1200"/>
              </a:spcAft>
              <a:defRPr sz="1800"/>
            </a:pPr>
            <a:r>
              <a:t>Not Automating: Relying on willpower instead of systems</a:t>
            </a:r>
          </a:p>
          <a:p>
            <a:pPr>
              <a:spcAft>
                <a:spcPts val="1200"/>
              </a:spcAft>
              <a:defRPr sz="1800"/>
            </a:pPr>
            <a:r>
              <a:t>Keeping All in Checking: Missing out on interest earnings</a:t>
            </a:r>
          </a:p>
          <a:p>
            <a:pPr>
              <a:spcAft>
                <a:spcPts val="1200"/>
              </a:spcAft>
              <a:defRPr sz="1800"/>
            </a:pPr>
            <a:r>
              <a:t>Dipping Into Savings: Using savings for non-emergencies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Savings vs.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Savings: Low risk, liquid, lower returns (0.5-5% annually)</a:t>
            </a:r>
          </a:p>
          <a:p>
            <a:pPr>
              <a:spcAft>
                <a:spcPts val="1200"/>
              </a:spcAft>
              <a:defRPr sz="1800"/>
            </a:pPr>
            <a:r>
              <a:t>Investments: Higher risk, potential higher returns (7-10% avg)</a:t>
            </a:r>
          </a:p>
          <a:p>
            <a:pPr>
              <a:spcAft>
                <a:spcPts val="1200"/>
              </a:spcAft>
              <a:defRPr sz="1800"/>
            </a:pPr>
            <a:r>
              <a:t>Emergency Fund: Always keep in savings</a:t>
            </a:r>
          </a:p>
          <a:p>
            <a:pPr>
              <a:spcAft>
                <a:spcPts val="1200"/>
              </a:spcAft>
              <a:defRPr sz="1800"/>
            </a:pPr>
            <a:r>
              <a:t>Short-term Goals: Use savings accounts</a:t>
            </a:r>
          </a:p>
          <a:p>
            <a:pPr>
              <a:spcAft>
                <a:spcPts val="1200"/>
              </a:spcAft>
              <a:defRPr sz="1800"/>
            </a:pPr>
            <a:r>
              <a:t>Long-term Goals: Consider investments after emergency fund</a:t>
            </a:r>
          </a:p>
          <a:p>
            <a:pPr>
              <a:spcAft>
                <a:spcPts val="1200"/>
              </a:spcAft>
              <a:defRPr sz="1800"/>
            </a:pPr>
            <a:r>
              <a:t>Diversification: Balance between safety and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Tools to Help You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Budgeting Apps: Mint, YNAB, Personal Capital</a:t>
            </a:r>
          </a:p>
          <a:p>
            <a:pPr>
              <a:spcAft>
                <a:spcPts val="1200"/>
              </a:spcAft>
              <a:defRPr sz="1800"/>
            </a:pPr>
            <a:r>
              <a:t>Automatic Savings: Digit, Qapital, Acorns</a:t>
            </a:r>
          </a:p>
          <a:p>
            <a:pPr>
              <a:spcAft>
                <a:spcPts val="1200"/>
              </a:spcAft>
              <a:defRPr sz="1800"/>
            </a:pPr>
            <a:r>
              <a:t>High-Yield Accounts: Online banks offering better rates</a:t>
            </a:r>
          </a:p>
          <a:p>
            <a:pPr>
              <a:spcAft>
                <a:spcPts val="1200"/>
              </a:spcAft>
              <a:defRPr sz="1800"/>
            </a:pPr>
            <a:r>
              <a:t>Expense Trackers: Monitor spending patterns</a:t>
            </a:r>
          </a:p>
          <a:p>
            <a:pPr>
              <a:spcAft>
                <a:spcPts val="1200"/>
              </a:spcAft>
              <a:defRPr sz="1800"/>
            </a:pPr>
            <a:r>
              <a:t>Goal Calculators: Determine how much to save monthly</a:t>
            </a:r>
          </a:p>
          <a:p>
            <a:pPr>
              <a:spcAft>
                <a:spcPts val="1200"/>
              </a:spcAft>
              <a:defRPr sz="1800"/>
            </a:pPr>
            <a:r>
              <a:t>Financial Advisors: Professional guidance when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Getting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Step 1: Calculate your monthly income and expenses</a:t>
            </a:r>
          </a:p>
          <a:p>
            <a:pPr>
              <a:spcAft>
                <a:spcPts val="1200"/>
              </a:spcAft>
              <a:defRPr sz="1800"/>
            </a:pPr>
            <a:r>
              <a:t>Step 2: Set one specific savings goal</a:t>
            </a:r>
          </a:p>
          <a:p>
            <a:pPr>
              <a:spcAft>
                <a:spcPts val="1200"/>
              </a:spcAft>
              <a:defRPr sz="1800"/>
            </a:pPr>
            <a:r>
              <a:t>Step 3: Open a dedicated savings account</a:t>
            </a:r>
          </a:p>
          <a:p>
            <a:pPr>
              <a:spcAft>
                <a:spcPts val="1200"/>
              </a:spcAft>
              <a:defRPr sz="1800"/>
            </a:pPr>
            <a:r>
              <a:t>Step 4: Automate a small weekly or monthly transfer</a:t>
            </a:r>
          </a:p>
          <a:p>
            <a:pPr>
              <a:spcAft>
                <a:spcPts val="1200"/>
              </a:spcAft>
              <a:defRPr sz="1800"/>
            </a:pPr>
            <a:r>
              <a:t>Step 5: Track progress and celebrate milestones</a:t>
            </a:r>
          </a:p>
          <a:p>
            <a:pPr>
              <a:spcAft>
                <a:spcPts val="1200"/>
              </a:spcAft>
              <a:defRPr sz="1800"/>
            </a:pPr>
            <a:r>
              <a:t>Remember: Small consistent actions lead to big results!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Saving is a habit that can be learned and improved</a:t>
            </a:r>
          </a:p>
          <a:p>
            <a:pPr>
              <a:spcAft>
                <a:spcPts val="1200"/>
              </a:spcAft>
              <a:defRPr sz="1800"/>
            </a:pPr>
            <a:r>
              <a:t>Start small and be consistent</a:t>
            </a:r>
          </a:p>
          <a:p>
            <a:pPr>
              <a:spcAft>
                <a:spcPts val="1200"/>
              </a:spcAft>
              <a:defRPr sz="1800"/>
            </a:pPr>
            <a:r>
              <a:t>Automate your savings to remove temptation</a:t>
            </a:r>
          </a:p>
          <a:p>
            <a:pPr>
              <a:spcAft>
                <a:spcPts val="1200"/>
              </a:spcAft>
              <a:defRPr sz="1800"/>
            </a:pPr>
            <a:r>
              <a:t>Have clear goals to stay motivated</a:t>
            </a:r>
          </a:p>
          <a:p>
            <a:pPr>
              <a:spcAft>
                <a:spcPts val="1200"/>
              </a:spcAft>
              <a:defRPr sz="1800"/>
            </a:pPr>
            <a:r>
              <a:t>Review and adjust your strategy regularly</a:t>
            </a:r>
          </a:p>
          <a:p>
            <a:pPr>
              <a:spcAft>
                <a:spcPts val="1200"/>
              </a:spcAft>
              <a:defRPr sz="1800"/>
            </a:pPr>
            <a:r>
              <a:t>Your future self will thank you for starting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