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77B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Personal Branding sur LinkedIn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Guide Pratique pour Étudiants en Marketing Digital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77B5"/>
                </a:solidFill>
              </a:defRPr>
            </a:pPr>
            <a:r>
              <a:t>Pourquoi LinkedIn est Essentiel?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2200">
                <a:solidFill>
                  <a:srgbClr val="282828"/>
                </a:solidFill>
              </a:defRPr>
            </a:pPr>
            <a:r>
              <a:t>🌐 Plus de 900 millions d'utilisateurs dans le monde</a:t>
            </a:r>
          </a:p>
          <a:p>
            <a:pPr>
              <a:spcBef>
                <a:spcPts val="1200"/>
              </a:spcBef>
              <a:defRPr sz="2200">
                <a:solidFill>
                  <a:srgbClr val="282828"/>
                </a:solidFill>
              </a:defRPr>
            </a:pPr>
            <a:r>
              <a:t>💼 Le réseau professionnel n°1 pour le marketing digital</a:t>
            </a:r>
          </a:p>
          <a:p>
            <a:pPr>
              <a:spcBef>
                <a:spcPts val="1200"/>
              </a:spcBef>
              <a:defRPr sz="2200">
                <a:solidFill>
                  <a:srgbClr val="282828"/>
                </a:solidFill>
              </a:defRPr>
            </a:pPr>
            <a:r>
              <a:t>🎯 80% des leads B2B proviennent de LinkedIn</a:t>
            </a:r>
          </a:p>
          <a:p>
            <a:pPr>
              <a:spcBef>
                <a:spcPts val="1200"/>
              </a:spcBef>
              <a:defRPr sz="2200">
                <a:solidFill>
                  <a:srgbClr val="282828"/>
                </a:solidFill>
              </a:defRPr>
            </a:pPr>
            <a:r>
              <a:t>📈 Visibilité auprès des recruteurs et entreprises</a:t>
            </a:r>
          </a:p>
          <a:p>
            <a:pPr>
              <a:spcBef>
                <a:spcPts val="1200"/>
              </a:spcBef>
              <a:defRPr sz="2200">
                <a:solidFill>
                  <a:srgbClr val="282828"/>
                </a:solidFill>
              </a:defRPr>
            </a:pPr>
            <a:r>
              <a:t>🤝 Opportunités de networking et de collaboration</a:t>
            </a:r>
          </a:p>
          <a:p>
            <a:pPr>
              <a:spcBef>
                <a:spcPts val="1200"/>
              </a:spcBef>
              <a:defRPr sz="2200">
                <a:solidFill>
                  <a:srgbClr val="282828"/>
                </a:solidFill>
              </a:defRPr>
            </a:pPr>
            <a:r>
              <a:t>📚 Plateforme d'apprentissage et de veille sectorielle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77B5"/>
                </a:solidFill>
              </a:defRPr>
            </a:pPr>
            <a:r>
              <a:t>Les 4 Piliers du Personal Branding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828800"/>
            <a:ext cx="3474720" cy="1828800"/>
          </a:xfrm>
          <a:prstGeom prst="rect">
            <a:avLst/>
          </a:prstGeom>
          <a:solidFill>
            <a:srgbClr val="F5F5F5"/>
          </a:solidFill>
          <a:ln w="25400">
            <a:solidFill>
              <a:srgbClr val="0077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77B5"/>
                </a:solidFill>
              </a:defRPr>
            </a:pPr>
            <a:r>
              <a:t>1. IDENTITÉ</a:t>
            </a:r>
          </a:p>
          <a:p>
            <a:pPr algn="ctr">
              <a:spcBef>
                <a:spcPts val="800"/>
              </a:spcBef>
              <a:defRPr sz="1400">
                <a:solidFill>
                  <a:srgbClr val="282828"/>
                </a:solidFill>
              </a:defRPr>
            </a:pPr>
            <a:r>
              <a:t>Qui êtes-vous?</a:t>
            </a:r>
            <a:br/>
            <a:r>
              <a:t>Vos valeurs et expertise</a:t>
            </a:r>
          </a:p>
        </p:txBody>
      </p:sp>
      <p:sp>
        <p:nvSpPr>
          <p:cNvPr id="4" name="Rectangle 3"/>
          <p:cNvSpPr/>
          <p:nvPr/>
        </p:nvSpPr>
        <p:spPr>
          <a:xfrm>
            <a:off x="4846320" y="1828800"/>
            <a:ext cx="3474720" cy="1828800"/>
          </a:xfrm>
          <a:prstGeom prst="rect">
            <a:avLst/>
          </a:prstGeom>
          <a:solidFill>
            <a:srgbClr val="F5F5F5"/>
          </a:solidFill>
          <a:ln w="25400">
            <a:solidFill>
              <a:srgbClr val="0077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77B5"/>
                </a:solidFill>
              </a:defRPr>
            </a:pPr>
            <a:r>
              <a:t>2. VISIBILITÉ</a:t>
            </a:r>
          </a:p>
          <a:p>
            <a:pPr algn="ctr">
              <a:spcBef>
                <a:spcPts val="800"/>
              </a:spcBef>
              <a:defRPr sz="1400">
                <a:solidFill>
                  <a:srgbClr val="282828"/>
                </a:solidFill>
              </a:defRPr>
            </a:pPr>
            <a:r>
              <a:t>Être vu et reconnu</a:t>
            </a:r>
            <a:br/>
            <a:r>
              <a:t>par votre audience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114800"/>
            <a:ext cx="3474720" cy="1828800"/>
          </a:xfrm>
          <a:prstGeom prst="rect">
            <a:avLst/>
          </a:prstGeom>
          <a:solidFill>
            <a:srgbClr val="F5F5F5"/>
          </a:solidFill>
          <a:ln w="25400">
            <a:solidFill>
              <a:srgbClr val="0077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77B5"/>
                </a:solidFill>
              </a:defRPr>
            </a:pPr>
            <a:r>
              <a:t>3. CRÉDIBILITÉ</a:t>
            </a:r>
          </a:p>
          <a:p>
            <a:pPr algn="ctr">
              <a:spcBef>
                <a:spcPts val="800"/>
              </a:spcBef>
              <a:defRPr sz="1400">
                <a:solidFill>
                  <a:srgbClr val="282828"/>
                </a:solidFill>
              </a:defRPr>
            </a:pPr>
            <a:r>
              <a:t>Prouver votre expertise</a:t>
            </a:r>
            <a:br/>
            <a:r>
              <a:t>avec du contenu de qualité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0" y="4114800"/>
            <a:ext cx="3474720" cy="1828800"/>
          </a:xfrm>
          <a:prstGeom prst="rect">
            <a:avLst/>
          </a:prstGeom>
          <a:solidFill>
            <a:srgbClr val="F5F5F5"/>
          </a:solidFill>
          <a:ln w="25400">
            <a:solidFill>
              <a:srgbClr val="0077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77B5"/>
                </a:solidFill>
              </a:defRPr>
            </a:pPr>
            <a:r>
              <a:t>4. RÉSEAU</a:t>
            </a:r>
          </a:p>
          <a:p>
            <a:pPr algn="ctr">
              <a:spcBef>
                <a:spcPts val="800"/>
              </a:spcBef>
              <a:defRPr sz="1400">
                <a:solidFill>
                  <a:srgbClr val="282828"/>
                </a:solidFill>
              </a:defRPr>
            </a:pPr>
            <a:r>
              <a:t>Construire des relations</a:t>
            </a:r>
            <a:br/>
            <a:r>
              <a:t>authentiques et durables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77B5"/>
                </a:solidFill>
              </a:defRPr>
            </a:pPr>
            <a:r>
              <a:t>Optimiser Votre Profil LinkedIn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2000" b="1">
                <a:solidFill>
                  <a:srgbClr val="0077B5"/>
                </a:solidFill>
              </a:defRPr>
            </a:pPr>
            <a:r>
              <a:t>📸 Photo Professionnelle</a:t>
            </a:r>
          </a:p>
          <a:p>
            <a:pPr lvl="1">
              <a:defRPr sz="1600">
                <a:solidFill>
                  <a:srgbClr val="282828"/>
                </a:solidFill>
              </a:defRPr>
            </a:pPr>
            <a:r>
              <a:t>Visage visible, souriant, fond neutre</a:t>
            </a:r>
          </a:p>
          <a:p>
            <a:pPr>
              <a:spcBef>
                <a:spcPts val="1000"/>
              </a:spcBef>
              <a:defRPr sz="2000" b="1">
                <a:solidFill>
                  <a:srgbClr val="0077B5"/>
                </a:solidFill>
              </a:defRPr>
            </a:pPr>
            <a:r>
              <a:t>🎨 Bannière Personnalisée</a:t>
            </a:r>
          </a:p>
          <a:p>
            <a:pPr lvl="1">
              <a:defRPr sz="1600">
                <a:solidFill>
                  <a:srgbClr val="282828"/>
                </a:solidFill>
              </a:defRPr>
            </a:pPr>
            <a:r>
              <a:t>Reflète votre domaine d'expertise en marketing digital</a:t>
            </a:r>
          </a:p>
          <a:p>
            <a:pPr>
              <a:spcBef>
                <a:spcPts val="1000"/>
              </a:spcBef>
              <a:defRPr sz="2000" b="1">
                <a:solidFill>
                  <a:srgbClr val="0077B5"/>
                </a:solidFill>
              </a:defRPr>
            </a:pPr>
            <a:r>
              <a:t>✍️ Titre Accrocheur</a:t>
            </a:r>
          </a:p>
          <a:p>
            <a:pPr lvl="1">
              <a:defRPr sz="1600">
                <a:solidFill>
                  <a:srgbClr val="282828"/>
                </a:solidFill>
              </a:defRPr>
            </a:pPr>
            <a:r>
              <a:t>Pas seulement votre poste, mais votre valeur ajoutée</a:t>
            </a:r>
          </a:p>
          <a:p>
            <a:pPr>
              <a:spcBef>
                <a:spcPts val="1000"/>
              </a:spcBef>
              <a:defRPr sz="2000" b="1">
                <a:solidFill>
                  <a:srgbClr val="0077B5"/>
                </a:solidFill>
              </a:defRPr>
            </a:pPr>
            <a:r>
              <a:t>📝 Résumé Impactant</a:t>
            </a:r>
          </a:p>
          <a:p>
            <a:pPr lvl="1">
              <a:defRPr sz="1600">
                <a:solidFill>
                  <a:srgbClr val="282828"/>
                </a:solidFill>
              </a:defRPr>
            </a:pPr>
            <a:r>
              <a:t>Votre histoire, compétences et objectifs en 3-5 paragraphes</a:t>
            </a:r>
          </a:p>
          <a:p>
            <a:pPr>
              <a:spcBef>
                <a:spcPts val="1000"/>
              </a:spcBef>
              <a:defRPr sz="2000" b="1">
                <a:solidFill>
                  <a:srgbClr val="0077B5"/>
                </a:solidFill>
              </a:defRPr>
            </a:pPr>
            <a:r>
              <a:t>🎓 Expériences &amp; Formation</a:t>
            </a:r>
          </a:p>
          <a:p>
            <a:pPr lvl="1">
              <a:defRPr sz="1600">
                <a:solidFill>
                  <a:srgbClr val="282828"/>
                </a:solidFill>
              </a:defRPr>
            </a:pPr>
            <a:r>
              <a:t>Détaillées avec résultats mesurables</a:t>
            </a:r>
          </a:p>
          <a:p>
            <a:pPr>
              <a:spcBef>
                <a:spcPts val="1000"/>
              </a:spcBef>
              <a:defRPr sz="2000" b="1">
                <a:solidFill>
                  <a:srgbClr val="0077B5"/>
                </a:solidFill>
              </a:defRPr>
            </a:pPr>
            <a:r>
              <a:t>💡 Compétences &amp; Recommandations</a:t>
            </a:r>
          </a:p>
          <a:p>
            <a:pPr lvl="1">
              <a:defRPr sz="1600">
                <a:solidFill>
                  <a:srgbClr val="282828"/>
                </a:solidFill>
              </a:defRPr>
            </a:pPr>
            <a:r>
              <a:t>Minimum 10 compétences validées par votre réseau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77B5"/>
                </a:solidFill>
              </a:defRPr>
            </a:pPr>
            <a:r>
              <a:t>Créer du Contenu qui Engage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77B5"/>
                </a:solidFill>
              </a:defRPr>
            </a:pPr>
            <a:r>
              <a:t>Types de Contenu:</a:t>
            </a:r>
          </a:p>
          <a:p>
            <a:pPr>
              <a:spcBef>
                <a:spcPts val="800"/>
              </a:spcBef>
              <a:defRPr sz="1800">
                <a:solidFill>
                  <a:srgbClr val="282828"/>
                </a:solidFill>
              </a:defRPr>
            </a:pPr>
            <a:r>
              <a:t>📊 Études de cas</a:t>
            </a:r>
          </a:p>
          <a:p>
            <a:pPr>
              <a:spcBef>
                <a:spcPts val="800"/>
              </a:spcBef>
              <a:defRPr sz="1800">
                <a:solidFill>
                  <a:srgbClr val="282828"/>
                </a:solidFill>
              </a:defRPr>
            </a:pPr>
            <a:r>
              <a:t>💭 Réflexions personnelles</a:t>
            </a:r>
          </a:p>
          <a:p>
            <a:pPr>
              <a:spcBef>
                <a:spcPts val="800"/>
              </a:spcBef>
              <a:defRPr sz="1800">
                <a:solidFill>
                  <a:srgbClr val="282828"/>
                </a:solidFill>
              </a:defRPr>
            </a:pPr>
            <a:r>
              <a:t>📰 Actualités du secteur</a:t>
            </a:r>
          </a:p>
          <a:p>
            <a:pPr>
              <a:spcBef>
                <a:spcPts val="800"/>
              </a:spcBef>
              <a:defRPr sz="1800">
                <a:solidFill>
                  <a:srgbClr val="282828"/>
                </a:solidFill>
              </a:defRPr>
            </a:pPr>
            <a:r>
              <a:t>🎓 Conseils pratiques</a:t>
            </a:r>
          </a:p>
          <a:p>
            <a:pPr>
              <a:spcBef>
                <a:spcPts val="800"/>
              </a:spcBef>
              <a:defRPr sz="1800">
                <a:solidFill>
                  <a:srgbClr val="282828"/>
                </a:solidFill>
              </a:defRPr>
            </a:pPr>
            <a:r>
              <a:t>🎥 Vidéos courtes</a:t>
            </a:r>
          </a:p>
          <a:p>
            <a:pPr>
              <a:spcBef>
                <a:spcPts val="800"/>
              </a:spcBef>
              <a:defRPr sz="1800">
                <a:solidFill>
                  <a:srgbClr val="282828"/>
                </a:solidFill>
              </a:defRPr>
            </a:pPr>
            <a:r>
              <a:t>📈 Infographies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77B5"/>
                </a:solidFill>
              </a:defRPr>
            </a:pPr>
            <a:r>
              <a:t>Bonnes Pratiques:</a:t>
            </a:r>
          </a:p>
          <a:p>
            <a:pPr>
              <a:spcBef>
                <a:spcPts val="800"/>
              </a:spcBef>
              <a:defRPr sz="1800">
                <a:solidFill>
                  <a:srgbClr val="282828"/>
                </a:solidFill>
              </a:defRPr>
            </a:pPr>
            <a:r>
              <a:t>✅ Publier 2-3 fois/semaine</a:t>
            </a:r>
          </a:p>
          <a:p>
            <a:pPr>
              <a:spcBef>
                <a:spcPts val="800"/>
              </a:spcBef>
              <a:defRPr sz="1800">
                <a:solidFill>
                  <a:srgbClr val="282828"/>
                </a:solidFill>
              </a:defRPr>
            </a:pPr>
            <a:r>
              <a:t>✅ Utiliser des hashtags (3-5)</a:t>
            </a:r>
          </a:p>
          <a:p>
            <a:pPr>
              <a:spcBef>
                <a:spcPts val="800"/>
              </a:spcBef>
              <a:defRPr sz="1800">
                <a:solidFill>
                  <a:srgbClr val="282828"/>
                </a:solidFill>
              </a:defRPr>
            </a:pPr>
            <a:r>
              <a:t>✅ Poser des questions</a:t>
            </a:r>
          </a:p>
          <a:p>
            <a:pPr>
              <a:spcBef>
                <a:spcPts val="800"/>
              </a:spcBef>
              <a:defRPr sz="1800">
                <a:solidFill>
                  <a:srgbClr val="282828"/>
                </a:solidFill>
              </a:defRPr>
            </a:pPr>
            <a:r>
              <a:t>✅ Partager des visuels</a:t>
            </a:r>
          </a:p>
          <a:p>
            <a:pPr>
              <a:spcBef>
                <a:spcPts val="800"/>
              </a:spcBef>
              <a:defRPr sz="1800">
                <a:solidFill>
                  <a:srgbClr val="282828"/>
                </a:solidFill>
              </a:defRPr>
            </a:pPr>
            <a:r>
              <a:t>✅ Commenter d'autres posts</a:t>
            </a:r>
          </a:p>
          <a:p>
            <a:pPr>
              <a:spcBef>
                <a:spcPts val="800"/>
              </a:spcBef>
              <a:defRPr sz="1800">
                <a:solidFill>
                  <a:srgbClr val="282828"/>
                </a:solidFill>
              </a:defRPr>
            </a:pPr>
            <a:r>
              <a:t>✅ Être authentique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77B5"/>
                </a:solidFill>
              </a:defRPr>
            </a:pPr>
            <a:r>
              <a:t>Développer Votre Réseau Stratégiquement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2000" b="1">
                <a:solidFill>
                  <a:srgbClr val="0077B5"/>
                </a:solidFill>
              </a:defRPr>
            </a:pPr>
            <a:r>
              <a:t>🎯 Cibler les Bonnes Personnes</a:t>
            </a:r>
          </a:p>
          <a:p>
            <a:pPr lvl="1">
              <a:defRPr sz="1600">
                <a:solidFill>
                  <a:srgbClr val="282828"/>
                </a:solidFill>
              </a:defRPr>
            </a:pPr>
            <a:r>
              <a:t>Professionnels du marketing digital, recruteurs, alumni, leaders d'opinion</a:t>
            </a:r>
          </a:p>
          <a:p>
            <a:pPr>
              <a:spcBef>
                <a:spcPts val="1200"/>
              </a:spcBef>
              <a:defRPr sz="2000" b="1">
                <a:solidFill>
                  <a:srgbClr val="0077B5"/>
                </a:solidFill>
              </a:defRPr>
            </a:pPr>
            <a:r>
              <a:t>💬 Personnaliser Vos Invitations</a:t>
            </a:r>
          </a:p>
          <a:p>
            <a:pPr lvl="1">
              <a:defRPr sz="1600">
                <a:solidFill>
                  <a:srgbClr val="282828"/>
                </a:solidFill>
              </a:defRPr>
            </a:pPr>
            <a:r>
              <a:t>Expliquez pourquoi vous souhaitez vous connecter</a:t>
            </a:r>
          </a:p>
          <a:p>
            <a:pPr>
              <a:spcBef>
                <a:spcPts val="1200"/>
              </a:spcBef>
              <a:defRPr sz="2000" b="1">
                <a:solidFill>
                  <a:srgbClr val="0077B5"/>
                </a:solidFill>
              </a:defRPr>
            </a:pPr>
            <a:r>
              <a:t>🤝 Engager Authentiquement</a:t>
            </a:r>
          </a:p>
          <a:p>
            <a:pPr lvl="1">
              <a:defRPr sz="1600">
                <a:solidFill>
                  <a:srgbClr val="282828"/>
                </a:solidFill>
              </a:defRPr>
            </a:pPr>
            <a:r>
              <a:t>Commenter, partager, féliciter - créer de vraies interactions</a:t>
            </a:r>
          </a:p>
          <a:p>
            <a:pPr>
              <a:spcBef>
                <a:spcPts val="1200"/>
              </a:spcBef>
              <a:defRPr sz="2000" b="1">
                <a:solidFill>
                  <a:srgbClr val="0077B5"/>
                </a:solidFill>
              </a:defRPr>
            </a:pPr>
            <a:r>
              <a:t>👥 Rejoindre des Groupes</a:t>
            </a:r>
          </a:p>
          <a:p>
            <a:pPr lvl="1">
              <a:defRPr sz="1600">
                <a:solidFill>
                  <a:srgbClr val="282828"/>
                </a:solidFill>
              </a:defRPr>
            </a:pPr>
            <a:r>
              <a:t>Groupes de marketing digital, communautés d'étudiants</a:t>
            </a:r>
          </a:p>
          <a:p>
            <a:pPr>
              <a:spcBef>
                <a:spcPts val="1200"/>
              </a:spcBef>
              <a:defRPr sz="2000" b="1">
                <a:solidFill>
                  <a:srgbClr val="0077B5"/>
                </a:solidFill>
              </a:defRPr>
            </a:pPr>
            <a:r>
              <a:t>📅 Participer aux Événements</a:t>
            </a:r>
          </a:p>
          <a:p>
            <a:pPr lvl="1">
              <a:defRPr sz="1600">
                <a:solidFill>
                  <a:srgbClr val="282828"/>
                </a:solidFill>
              </a:defRPr>
            </a:pPr>
            <a:r>
              <a:t>Webinaires, conférences LinkedIn Live</a:t>
            </a:r>
          </a:p>
          <a:p>
            <a:pPr>
              <a:spcBef>
                <a:spcPts val="1200"/>
              </a:spcBef>
              <a:defRPr sz="2000" b="1">
                <a:solidFill>
                  <a:srgbClr val="0077B5"/>
                </a:solidFill>
              </a:defRPr>
            </a:pPr>
            <a:r>
              <a:t>🔄 Donner Avant de Recevoir</a:t>
            </a:r>
          </a:p>
          <a:p>
            <a:pPr lvl="1">
              <a:defRPr sz="1600">
                <a:solidFill>
                  <a:srgbClr val="282828"/>
                </a:solidFill>
              </a:defRPr>
            </a:pPr>
            <a:r>
              <a:t>Aider les autres, partager des opportunités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77B5"/>
                </a:solidFill>
              </a:defRPr>
            </a:pPr>
            <a:r>
              <a:t>Votre Plan d'Action - 30 Jours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7315200" cy="1097280"/>
          </a:xfrm>
          <a:prstGeom prst="rect">
            <a:avLst/>
          </a:prstGeom>
          <a:solidFill>
            <a:srgbClr val="F5F5F5"/>
          </a:solidFill>
          <a:ln w="25400">
            <a:solidFill>
              <a:srgbClr val="0077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2000" b="1">
                <a:solidFill>
                  <a:srgbClr val="0077B5"/>
                </a:solidFill>
              </a:defRPr>
            </a:pPr>
            <a:r>
              <a:t>Semaine 1</a:t>
            </a:r>
          </a:p>
          <a:p>
            <a:pPr lvl="1">
              <a:defRPr sz="1600">
                <a:solidFill>
                  <a:srgbClr val="282828"/>
                </a:solidFill>
              </a:defRPr>
            </a:pPr>
            <a:r>
              <a:t>• Optimiser votre profil complet</a:t>
            </a:r>
          </a:p>
          <a:p>
            <a:pPr lvl="1">
              <a:defRPr sz="1600">
                <a:solidFill>
                  <a:srgbClr val="282828"/>
                </a:solidFill>
              </a:defRPr>
            </a:pPr>
            <a:r>
              <a:t>• Ajouter 50 connexions pertinentes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880360"/>
            <a:ext cx="7315200" cy="1097280"/>
          </a:xfrm>
          <a:prstGeom prst="rect">
            <a:avLst/>
          </a:prstGeom>
          <a:solidFill>
            <a:srgbClr val="F5F5F5"/>
          </a:solidFill>
          <a:ln w="25400">
            <a:solidFill>
              <a:srgbClr val="0077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2000" b="1">
                <a:solidFill>
                  <a:srgbClr val="0077B5"/>
                </a:solidFill>
              </a:defRPr>
            </a:pPr>
            <a:r>
              <a:t>Semaine 2</a:t>
            </a:r>
          </a:p>
          <a:p>
            <a:pPr lvl="1">
              <a:defRPr sz="1600">
                <a:solidFill>
                  <a:srgbClr val="282828"/>
                </a:solidFill>
              </a:defRPr>
            </a:pPr>
            <a:r>
              <a:t>• Publier votre premier post</a:t>
            </a:r>
          </a:p>
          <a:p>
            <a:pPr lvl="1">
              <a:defRPr sz="1600">
                <a:solidFill>
                  <a:srgbClr val="282828"/>
                </a:solidFill>
              </a:defRPr>
            </a:pPr>
            <a:r>
              <a:t>• Commenter 10 publications/jour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114800"/>
            <a:ext cx="7315200" cy="1097280"/>
          </a:xfrm>
          <a:prstGeom prst="rect">
            <a:avLst/>
          </a:prstGeom>
          <a:solidFill>
            <a:srgbClr val="F5F5F5"/>
          </a:solidFill>
          <a:ln w="25400">
            <a:solidFill>
              <a:srgbClr val="0077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2000" b="1">
                <a:solidFill>
                  <a:srgbClr val="0077B5"/>
                </a:solidFill>
              </a:defRPr>
            </a:pPr>
            <a:r>
              <a:t>Semaine 3</a:t>
            </a:r>
          </a:p>
          <a:p>
            <a:pPr lvl="1">
              <a:defRPr sz="1600">
                <a:solidFill>
                  <a:srgbClr val="282828"/>
                </a:solidFill>
              </a:defRPr>
            </a:pPr>
            <a:r>
              <a:t>• Rejoindre 5 groupes professionnels</a:t>
            </a:r>
          </a:p>
          <a:p>
            <a:pPr lvl="1">
              <a:defRPr sz="1600">
                <a:solidFill>
                  <a:srgbClr val="282828"/>
                </a:solidFill>
              </a:defRPr>
            </a:pPr>
            <a:r>
              <a:t>• Publier 2-3 contenus originaux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5349240"/>
            <a:ext cx="7315200" cy="1097280"/>
          </a:xfrm>
          <a:prstGeom prst="rect">
            <a:avLst/>
          </a:prstGeom>
          <a:solidFill>
            <a:srgbClr val="F5F5F5"/>
          </a:solidFill>
          <a:ln w="25400">
            <a:solidFill>
              <a:srgbClr val="0077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2000" b="1">
                <a:solidFill>
                  <a:srgbClr val="0077B5"/>
                </a:solidFill>
              </a:defRPr>
            </a:pPr>
            <a:r>
              <a:t>Semaine 4</a:t>
            </a:r>
          </a:p>
          <a:p>
            <a:pPr lvl="1">
              <a:defRPr sz="1600">
                <a:solidFill>
                  <a:srgbClr val="282828"/>
                </a:solidFill>
              </a:defRPr>
            </a:pPr>
            <a:r>
              <a:t>• Analyser vos statistiques</a:t>
            </a:r>
          </a:p>
          <a:p>
            <a:pPr lvl="1">
              <a:defRPr sz="1600">
                <a:solidFill>
                  <a:srgbClr val="282828"/>
                </a:solidFill>
              </a:defRPr>
            </a:pPr>
            <a:r>
              <a:t>• Ajuster votre stratégie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