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Going Green at 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Strategies for a Sustainable Future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Why Go Green at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🌍 Environmental Impact: Reduce carbon footprint and protect natural resources</a:t>
            </a:r>
          </a:p>
          <a:p>
            <a:pPr>
              <a:spcAft>
                <a:spcPts val="1200"/>
              </a:spcAft>
              <a:defRPr sz="1800"/>
            </a:pPr>
            <a:r>
              <a:t>💰 Cost Savings: Lower energy bills and operational expenses</a:t>
            </a:r>
          </a:p>
          <a:p>
            <a:pPr>
              <a:spcAft>
                <a:spcPts val="1200"/>
              </a:spcAft>
              <a:defRPr sz="1800"/>
            </a:pPr>
            <a:r>
              <a:t>👥 Employee Engagement: Boost morale and attract eco-conscious talent</a:t>
            </a:r>
          </a:p>
          <a:p>
            <a:pPr>
              <a:spcAft>
                <a:spcPts val="1200"/>
              </a:spcAft>
              <a:defRPr sz="1800"/>
            </a:pPr>
            <a:r>
              <a:t>📈 Brand Reputation: Enhance corporate image and customer loyalty</a:t>
            </a:r>
          </a:p>
          <a:p>
            <a:pPr>
              <a:spcAft>
                <a:spcPts val="1200"/>
              </a:spcAft>
              <a:defRPr sz="1800"/>
            </a:pPr>
            <a:r>
              <a:t>⚖️ Regulatory Compliance: Meet environmental standards and regulations</a:t>
            </a:r>
          </a:p>
          <a:p>
            <a:pPr>
              <a:spcAft>
                <a:spcPts val="1200"/>
              </a:spcAft>
              <a:defRPr sz="1800"/>
            </a:pPr>
            <a:r>
              <a:t>🔮 Future-Proofing: Prepare for climate-related business risks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Energy Efficiency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💡 Switch to LED lighting throughout the office</a:t>
            </a:r>
          </a:p>
          <a:p>
            <a:pPr>
              <a:spcAft>
                <a:spcPts val="1200"/>
              </a:spcAft>
              <a:defRPr sz="1800"/>
            </a:pPr>
            <a:r>
              <a:t>🌡️ Install smart thermostats and optimize HVAC systems</a:t>
            </a:r>
          </a:p>
          <a:p>
            <a:pPr>
              <a:spcAft>
                <a:spcPts val="1200"/>
              </a:spcAft>
              <a:defRPr sz="1800"/>
            </a:pPr>
            <a:r>
              <a:t>🔌 Use energy-efficient appliances and equipment</a:t>
            </a:r>
          </a:p>
          <a:p>
            <a:pPr>
              <a:spcAft>
                <a:spcPts val="1200"/>
              </a:spcAft>
              <a:defRPr sz="1800"/>
            </a:pPr>
            <a:r>
              <a:t>☀️ Maximize natural lighting with window placement</a:t>
            </a:r>
          </a:p>
          <a:p>
            <a:pPr>
              <a:spcAft>
                <a:spcPts val="1200"/>
              </a:spcAft>
              <a:defRPr sz="1800"/>
            </a:pPr>
            <a:r>
              <a:t>⚡ Implement motion sensors for lighting in low-traffic areas</a:t>
            </a:r>
          </a:p>
          <a:p>
            <a:pPr>
              <a:spcAft>
                <a:spcPts val="1200"/>
              </a:spcAft>
              <a:defRPr sz="1800"/>
            </a:pPr>
            <a:r>
              <a:t>🔋 Encourage powering down devices at end of day</a:t>
            </a:r>
          </a:p>
          <a:p>
            <a:pPr>
              <a:spcAft>
                <a:spcPts val="1200"/>
              </a:spcAft>
              <a:defRPr sz="1800"/>
            </a:pPr>
            <a:r>
              <a:t>📊 Conduct regular energy audits to identify waste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Waste Reduction &amp; Recycling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♻️ Establish comprehensive recycling programs (paper, plastic, metal, e-waste)</a:t>
            </a:r>
          </a:p>
          <a:p>
            <a:pPr>
              <a:spcAft>
                <a:spcPts val="1200"/>
              </a:spcAft>
              <a:defRPr sz="1800"/>
            </a:pPr>
            <a:r>
              <a:t>📄 Go paperless: Digital documents, e-signatures, cloud storage</a:t>
            </a:r>
          </a:p>
          <a:p>
            <a:pPr>
              <a:spcAft>
                <a:spcPts val="1200"/>
              </a:spcAft>
              <a:defRPr sz="1800"/>
            </a:pPr>
            <a:r>
              <a:t>☕ Eliminate single-use items: Reusable cups, utensils, containers</a:t>
            </a:r>
          </a:p>
          <a:p>
            <a:pPr>
              <a:spcAft>
                <a:spcPts val="1200"/>
              </a:spcAft>
              <a:defRPr sz="1800"/>
            </a:pPr>
            <a:r>
              <a:t>🗑️ Implement composting for organic waste</a:t>
            </a:r>
          </a:p>
          <a:p>
            <a:pPr>
              <a:spcAft>
                <a:spcPts val="1200"/>
              </a:spcAft>
              <a:defRPr sz="1800"/>
            </a:pPr>
            <a:r>
              <a:t>🎁 Choose products with minimal or recyclable packaging</a:t>
            </a:r>
          </a:p>
          <a:p>
            <a:pPr>
              <a:spcAft>
                <a:spcPts val="1200"/>
              </a:spcAft>
              <a:defRPr sz="1800"/>
            </a:pPr>
            <a:r>
              <a:t>💻 Donate or recycle old electronics responsibly</a:t>
            </a:r>
          </a:p>
          <a:p>
            <a:pPr>
              <a:spcAft>
                <a:spcPts val="1200"/>
              </a:spcAft>
              <a:defRPr sz="1800"/>
            </a:pPr>
            <a:r>
              <a:t>📦 Reuse shipping materials and office supplies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Green Transportation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🚴 Bike-to-work programs with secure storage and showers</a:t>
            </a:r>
          </a:p>
          <a:p>
            <a:pPr>
              <a:spcAft>
                <a:spcPts val="1200"/>
              </a:spcAft>
              <a:defRPr sz="1800"/>
            </a:pPr>
            <a:r>
              <a:t>🚌 Public transit subsidies and incentives</a:t>
            </a:r>
          </a:p>
          <a:p>
            <a:pPr>
              <a:spcAft>
                <a:spcPts val="1200"/>
              </a:spcAft>
              <a:defRPr sz="1800"/>
            </a:pPr>
            <a:r>
              <a:t>🚗 Carpooling initiatives and ride-sharing platforms</a:t>
            </a:r>
          </a:p>
          <a:p>
            <a:pPr>
              <a:spcAft>
                <a:spcPts val="1200"/>
              </a:spcAft>
              <a:defRPr sz="1800"/>
            </a:pPr>
            <a:r>
              <a:t>🏠 Remote work and flexible schedules to reduce commuting</a:t>
            </a:r>
          </a:p>
          <a:p>
            <a:pPr>
              <a:spcAft>
                <a:spcPts val="1200"/>
              </a:spcAft>
              <a:defRPr sz="1800"/>
            </a:pPr>
            <a:r>
              <a:t>🔌 Electric vehicle charging stations in parking lots</a:t>
            </a:r>
          </a:p>
          <a:p>
            <a:pPr>
              <a:spcAft>
                <a:spcPts val="1200"/>
              </a:spcAft>
              <a:defRPr sz="1800"/>
            </a:pPr>
            <a:r>
              <a:t>🚶 Walking meetings for nearby destinations</a:t>
            </a:r>
          </a:p>
          <a:p>
            <a:pPr>
              <a:spcAft>
                <a:spcPts val="1200"/>
              </a:spcAft>
              <a:defRPr sz="1800"/>
            </a:pPr>
            <a:r>
              <a:t>✈️ Virtual meetings to reduce business travel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Water Conservation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🚰 Install low-flow faucets and toilets</a:t>
            </a:r>
          </a:p>
          <a:p>
            <a:pPr>
              <a:spcAft>
                <a:spcPts val="1200"/>
              </a:spcAft>
              <a:defRPr sz="1800"/>
            </a:pPr>
            <a:r>
              <a:t>💧 Fix leaks promptly to prevent water waste</a:t>
            </a:r>
          </a:p>
          <a:p>
            <a:pPr>
              <a:spcAft>
                <a:spcPts val="1200"/>
              </a:spcAft>
              <a:defRPr sz="1800"/>
            </a:pPr>
            <a:r>
              <a:t>🌱 Use drought-resistant landscaping (xeriscaping)</a:t>
            </a:r>
          </a:p>
          <a:p>
            <a:pPr>
              <a:spcAft>
                <a:spcPts val="1200"/>
              </a:spcAft>
              <a:defRPr sz="1800"/>
            </a:pPr>
            <a:r>
              <a:t>💦 Implement rainwater harvesting systems</a:t>
            </a:r>
          </a:p>
          <a:p>
            <a:pPr>
              <a:spcAft>
                <a:spcPts val="1200"/>
              </a:spcAft>
              <a:defRPr sz="1800"/>
            </a:pPr>
            <a:r>
              <a:t>⏰ Smart irrigation systems with weather sensors</a:t>
            </a:r>
          </a:p>
          <a:p>
            <a:pPr>
              <a:spcAft>
                <a:spcPts val="1200"/>
              </a:spcAft>
              <a:defRPr sz="1800"/>
            </a:pPr>
            <a:r>
              <a:t>🧼 Use water-efficient dishwashers and appliances</a:t>
            </a:r>
          </a:p>
          <a:p>
            <a:pPr>
              <a:spcAft>
                <a:spcPts val="1200"/>
              </a:spcAft>
              <a:defRPr sz="1800"/>
            </a:pPr>
            <a:r>
              <a:t>📢 Educate employees on water-saving practices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Green Purchasing &amp; Procurement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🌿 Choose eco-friendly office supplies (recycled paper, non-toxic cleaners)</a:t>
            </a:r>
          </a:p>
          <a:p>
            <a:pPr>
              <a:spcAft>
                <a:spcPts val="1200"/>
              </a:spcAft>
              <a:defRPr sz="1800"/>
            </a:pPr>
            <a:r>
              <a:t>🏷️ Partner with sustainable vendors and suppliers</a:t>
            </a:r>
          </a:p>
          <a:p>
            <a:pPr>
              <a:spcAft>
                <a:spcPts val="1200"/>
              </a:spcAft>
              <a:defRPr sz="1800"/>
            </a:pPr>
            <a:r>
              <a:t>🌾 Source local products to reduce transportation emissions</a:t>
            </a:r>
          </a:p>
          <a:p>
            <a:pPr>
              <a:spcAft>
                <a:spcPts val="1200"/>
              </a:spcAft>
              <a:defRPr sz="1800"/>
            </a:pPr>
            <a:r>
              <a:t>✅ Look for environmental certifications (Energy Star, Fair Trade, FSC)</a:t>
            </a:r>
          </a:p>
          <a:p>
            <a:pPr>
              <a:spcAft>
                <a:spcPts val="1200"/>
              </a:spcAft>
              <a:defRPr sz="1800"/>
            </a:pPr>
            <a:r>
              <a:t>📦 Buy in bulk to reduce packaging waste</a:t>
            </a:r>
          </a:p>
          <a:p>
            <a:pPr>
              <a:spcAft>
                <a:spcPts val="1200"/>
              </a:spcAft>
              <a:defRPr sz="1800"/>
            </a:pPr>
            <a:r>
              <a:t>♻️ Select products made from recycled or renewable materials</a:t>
            </a:r>
          </a:p>
          <a:p>
            <a:pPr>
              <a:spcAft>
                <a:spcPts val="1200"/>
              </a:spcAft>
              <a:defRPr sz="1800"/>
            </a:pPr>
            <a:r>
              <a:t>🔄 Prioritize durability and repairability over disposability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Sustainable Office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🪴 Incorporate indoor plants for air quality and aesthetics</a:t>
            </a:r>
          </a:p>
          <a:p>
            <a:pPr>
              <a:spcAft>
                <a:spcPts val="1200"/>
              </a:spcAft>
              <a:defRPr sz="1800"/>
            </a:pPr>
            <a:r>
              <a:t>🏢 Use sustainable building materials (bamboo, reclaimed wood)</a:t>
            </a:r>
          </a:p>
          <a:p>
            <a:pPr>
              <a:spcAft>
                <a:spcPts val="1200"/>
              </a:spcAft>
              <a:defRPr sz="1800"/>
            </a:pPr>
            <a:r>
              <a:t>🪟 Maximize natural ventilation and daylighting</a:t>
            </a:r>
          </a:p>
          <a:p>
            <a:pPr>
              <a:spcAft>
                <a:spcPts val="1200"/>
              </a:spcAft>
              <a:defRPr sz="1800"/>
            </a:pPr>
            <a:r>
              <a:t>🎨 Choose low-VOC paints and finishes</a:t>
            </a:r>
          </a:p>
          <a:p>
            <a:pPr>
              <a:spcAft>
                <a:spcPts val="1200"/>
              </a:spcAft>
              <a:defRPr sz="1800"/>
            </a:pPr>
            <a:r>
              <a:t>🪑 Select furniture made from sustainable materials</a:t>
            </a:r>
          </a:p>
          <a:p>
            <a:pPr>
              <a:spcAft>
                <a:spcPts val="1200"/>
              </a:spcAft>
              <a:defRPr sz="1800"/>
            </a:pPr>
            <a:r>
              <a:t>🌡️ Improve insulation to reduce heating/cooling needs</a:t>
            </a:r>
          </a:p>
          <a:p>
            <a:pPr>
              <a:spcAft>
                <a:spcPts val="1200"/>
              </a:spcAft>
              <a:defRPr sz="1800"/>
            </a:pPr>
            <a:r>
              <a:t>🏗️ Pursue green building certifications (LEED, BREEAM)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Engaging Employees in 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📚 Provide regular training on green practices</a:t>
            </a:r>
          </a:p>
          <a:p>
            <a:pPr>
              <a:spcAft>
                <a:spcPts val="1200"/>
              </a:spcAft>
              <a:defRPr sz="1800"/>
            </a:pPr>
            <a:r>
              <a:t>🏆 Create green teams or sustainability committees</a:t>
            </a:r>
          </a:p>
          <a:p>
            <a:pPr>
              <a:spcAft>
                <a:spcPts val="1200"/>
              </a:spcAft>
              <a:defRPr sz="1800"/>
            </a:pPr>
            <a:r>
              <a:t>🎯 Set measurable sustainability goals and track progress</a:t>
            </a:r>
          </a:p>
          <a:p>
            <a:pPr>
              <a:spcAft>
                <a:spcPts val="1200"/>
              </a:spcAft>
              <a:defRPr sz="1800"/>
            </a:pPr>
            <a:r>
              <a:t>🎁 Recognize and reward eco-friendly behaviors</a:t>
            </a:r>
          </a:p>
          <a:p>
            <a:pPr>
              <a:spcAft>
                <a:spcPts val="1200"/>
              </a:spcAft>
              <a:defRPr sz="1800"/>
            </a:pPr>
            <a:r>
              <a:t>💡 Encourage employee suggestions for improvements</a:t>
            </a:r>
          </a:p>
          <a:p>
            <a:pPr>
              <a:spcAft>
                <a:spcPts val="1200"/>
              </a:spcAft>
              <a:defRPr sz="1800"/>
            </a:pPr>
            <a:r>
              <a:t>📱 Use gamification to make sustainability fun</a:t>
            </a:r>
          </a:p>
          <a:p>
            <a:pPr>
              <a:spcAft>
                <a:spcPts val="1200"/>
              </a:spcAft>
              <a:defRPr sz="1800"/>
            </a:pPr>
            <a:r>
              <a:t>🌍 Organize volunteer events for environmental causes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Technology for 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☁️ Cloud computing to reduce on-premise server energy use</a:t>
            </a:r>
          </a:p>
          <a:p>
            <a:pPr>
              <a:spcAft>
                <a:spcPts val="1200"/>
              </a:spcAft>
              <a:defRPr sz="1800"/>
            </a:pPr>
            <a:r>
              <a:t>📊 Energy management software for monitoring and optimization</a:t>
            </a:r>
          </a:p>
          <a:p>
            <a:pPr>
              <a:spcAft>
                <a:spcPts val="1200"/>
              </a:spcAft>
              <a:defRPr sz="1800"/>
            </a:pPr>
            <a:r>
              <a:t>📱 Digital collaboration tools to reduce paper and travel</a:t>
            </a:r>
          </a:p>
          <a:p>
            <a:pPr>
              <a:spcAft>
                <a:spcPts val="1200"/>
              </a:spcAft>
              <a:defRPr sz="1800"/>
            </a:pPr>
            <a:r>
              <a:t>🤖 AI and IoT for smart building management</a:t>
            </a:r>
          </a:p>
          <a:p>
            <a:pPr>
              <a:spcAft>
                <a:spcPts val="1200"/>
              </a:spcAft>
              <a:defRPr sz="1800"/>
            </a:pPr>
            <a:r>
              <a:t>♻️ E-waste recycling programs for old technology</a:t>
            </a:r>
          </a:p>
          <a:p>
            <a:pPr>
              <a:spcAft>
                <a:spcPts val="1200"/>
              </a:spcAft>
              <a:defRPr sz="1800"/>
            </a:pPr>
            <a:r>
              <a:t>💻 Virtual desktops to extend hardware lifespan</a:t>
            </a:r>
          </a:p>
          <a:p>
            <a:pPr>
              <a:spcAft>
                <a:spcPts val="1200"/>
              </a:spcAft>
              <a:defRPr sz="1800"/>
            </a:pPr>
            <a:r>
              <a:t>📈 Sustainability reporting platforms for transparency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Measuring &amp; Reporting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📊 Key Metrics to Track:</a:t>
            </a:r>
          </a:p>
          <a:p>
            <a:pPr>
              <a:spcAft>
                <a:spcPts val="1000"/>
              </a:spcAft>
              <a:defRPr sz="1600"/>
            </a:pPr>
            <a:r>
              <a:t>• Energy consumption (kWh)</a:t>
            </a:r>
          </a:p>
          <a:p>
            <a:pPr>
              <a:spcAft>
                <a:spcPts val="1000"/>
              </a:spcAft>
              <a:defRPr sz="1600"/>
            </a:pPr>
            <a:r>
              <a:t>• Water usage (gallons)</a:t>
            </a:r>
          </a:p>
          <a:p>
            <a:pPr>
              <a:spcAft>
                <a:spcPts val="1000"/>
              </a:spcAft>
              <a:defRPr sz="1600"/>
            </a:pPr>
            <a:r>
              <a:t>• Waste diverted from landfills (%)</a:t>
            </a:r>
          </a:p>
          <a:p>
            <a:pPr>
              <a:spcAft>
                <a:spcPts val="1000"/>
              </a:spcAft>
              <a:defRPr sz="1600"/>
            </a:pPr>
            <a:r>
              <a:t>• Carbon emissions (tons CO2e)</a:t>
            </a:r>
          </a:p>
          <a:p>
            <a:pPr>
              <a:spcAft>
                <a:spcPts val="1000"/>
              </a:spcAft>
              <a:defRPr sz="1600"/>
            </a:pPr>
            <a:r>
              <a:t>• Recycling rates (%)</a:t>
            </a:r>
          </a:p>
          <a:p>
            <a:pPr>
              <a:spcAft>
                <a:spcPts val="1000"/>
              </a:spcAft>
              <a:defRPr sz="1600"/>
            </a:pPr>
            <a:r>
              <a:t>• Employee participation rates</a:t>
            </a:r>
          </a:p>
          <a:p>
            <a:pPr>
              <a:spcAft>
                <a:spcPts val="1000"/>
              </a:spcAft>
              <a:defRPr sz="1600"/>
            </a:pPr>
            <a:r>
              <a:t>• Cost savings achieved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📝 Reporting Best Practices:</a:t>
            </a:r>
          </a:p>
          <a:p>
            <a:pPr>
              <a:spcAft>
                <a:spcPts val="1000"/>
              </a:spcAft>
              <a:defRPr sz="1600"/>
            </a:pPr>
            <a:r>
              <a:t>• Publish annual sustainability reports</a:t>
            </a:r>
          </a:p>
          <a:p>
            <a:pPr>
              <a:spcAft>
                <a:spcPts val="1000"/>
              </a:spcAft>
              <a:defRPr sz="1600"/>
            </a:pPr>
            <a:r>
              <a:t>• Share progress with stakeholders</a:t>
            </a:r>
          </a:p>
          <a:p>
            <a:pPr>
              <a:spcAft>
                <a:spcPts val="1000"/>
              </a:spcAft>
              <a:defRPr sz="1600"/>
            </a:pPr>
            <a:r>
              <a:t>• Benchmark against industry standards</a:t>
            </a:r>
          </a:p>
          <a:p>
            <a:pPr>
              <a:spcAft>
                <a:spcPts val="1000"/>
              </a:spcAft>
              <a:defRPr sz="1600"/>
            </a:pPr>
            <a:r>
              <a:t>• Use third-party verification</a:t>
            </a:r>
          </a:p>
          <a:p>
            <a:pPr>
              <a:spcAft>
                <a:spcPts val="1000"/>
              </a:spcAft>
              <a:defRPr sz="1600"/>
            </a:pPr>
            <a:r>
              <a:t>• Celebrate milestones publicly</a:t>
            </a:r>
          </a:p>
          <a:p>
            <a:pPr>
              <a:spcAft>
                <a:spcPts val="1000"/>
              </a:spcAft>
              <a:defRPr sz="1600"/>
            </a:pPr>
            <a:r>
              <a:t>• Be transparent about challenges</a:t>
            </a:r>
          </a:p>
          <a:p>
            <a:pPr>
              <a:spcAft>
                <a:spcPts val="1000"/>
              </a:spcAft>
              <a:defRPr sz="1600"/>
            </a:pPr>
            <a:r>
              <a:t>• Set ambitious future targets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Overcoming Common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⚠️ Common Obstacles:</a:t>
            </a:r>
          </a:p>
          <a:p>
            <a:pPr>
              <a:spcAft>
                <a:spcPts val="1000"/>
              </a:spcAft>
              <a:defRPr sz="1600"/>
            </a:pPr>
            <a:r>
              <a:t>• Initial investment costs</a:t>
            </a:r>
          </a:p>
          <a:p>
            <a:pPr>
              <a:spcAft>
                <a:spcPts val="1000"/>
              </a:spcAft>
              <a:defRPr sz="1600"/>
            </a:pPr>
            <a:r>
              <a:t>• Resistance to change</a:t>
            </a:r>
          </a:p>
          <a:p>
            <a:pPr>
              <a:spcAft>
                <a:spcPts val="1000"/>
              </a:spcAft>
              <a:defRPr sz="1600"/>
            </a:pPr>
            <a:r>
              <a:t>• Lack of awareness</a:t>
            </a:r>
          </a:p>
          <a:p>
            <a:pPr>
              <a:spcAft>
                <a:spcPts val="1000"/>
              </a:spcAft>
              <a:defRPr sz="1600"/>
            </a:pPr>
            <a:r>
              <a:t>• Competing priorities</a:t>
            </a:r>
          </a:p>
          <a:p>
            <a:pPr>
              <a:spcAft>
                <a:spcPts val="1000"/>
              </a:spcAft>
              <a:defRPr sz="1600"/>
            </a:pPr>
            <a:r>
              <a:t>• Limited resources</a:t>
            </a:r>
          </a:p>
          <a:p>
            <a:pPr>
              <a:spcAft>
                <a:spcPts val="1000"/>
              </a:spcAft>
              <a:defRPr sz="1600"/>
            </a:pPr>
            <a:r>
              <a:t>• Measuring ROI</a:t>
            </a:r>
          </a:p>
          <a:p>
            <a:pPr>
              <a:spcAft>
                <a:spcPts val="1000"/>
              </a:spcAft>
              <a:defRPr sz="1600"/>
            </a:pPr>
            <a:r>
              <a:t>• Maintaining momentum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✅ Solutions:</a:t>
            </a:r>
          </a:p>
          <a:p>
            <a:pPr>
              <a:spcAft>
                <a:spcPts val="1000"/>
              </a:spcAft>
              <a:defRPr sz="1600"/>
            </a:pPr>
            <a:r>
              <a:t>• Start small, scale gradually</a:t>
            </a:r>
          </a:p>
          <a:p>
            <a:pPr>
              <a:spcAft>
                <a:spcPts val="1000"/>
              </a:spcAft>
              <a:defRPr sz="1600"/>
            </a:pPr>
            <a:r>
              <a:t>• Demonstrate cost savings</a:t>
            </a:r>
          </a:p>
          <a:p>
            <a:pPr>
              <a:spcAft>
                <a:spcPts val="1000"/>
              </a:spcAft>
              <a:defRPr sz="1600"/>
            </a:pPr>
            <a:r>
              <a:t>• Provide education and training</a:t>
            </a:r>
          </a:p>
          <a:p>
            <a:pPr>
              <a:spcAft>
                <a:spcPts val="1000"/>
              </a:spcAft>
              <a:defRPr sz="1600"/>
            </a:pPr>
            <a:r>
              <a:t>• Secure leadership buy-in</a:t>
            </a:r>
          </a:p>
          <a:p>
            <a:pPr>
              <a:spcAft>
                <a:spcPts val="1000"/>
              </a:spcAft>
              <a:defRPr sz="1600"/>
            </a:pPr>
            <a:r>
              <a:t>• Leverage grants and incentives</a:t>
            </a:r>
          </a:p>
          <a:p>
            <a:pPr>
              <a:spcAft>
                <a:spcPts val="1000"/>
              </a:spcAft>
              <a:defRPr sz="1600"/>
            </a:pPr>
            <a:r>
              <a:t>• Track and communicate wins</a:t>
            </a:r>
          </a:p>
          <a:p>
            <a:pPr>
              <a:spcAft>
                <a:spcPts val="1000"/>
              </a:spcAft>
              <a:defRPr sz="1600"/>
            </a:pPr>
            <a:r>
              <a:t>• Make it part of company culture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Success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🏢 Google: 100% renewable energy, carbon-neutral since 2007</a:t>
            </a:r>
          </a:p>
          <a:p>
            <a:pPr>
              <a:spcAft>
                <a:spcPts val="1200"/>
              </a:spcAft>
              <a:defRPr sz="1800"/>
            </a:pPr>
            <a:r>
              <a:t>🌲 Patagonia: 1% for the Planet, extensive recycling programs</a:t>
            </a:r>
          </a:p>
          <a:p>
            <a:pPr>
              <a:spcAft>
                <a:spcPts val="1200"/>
              </a:spcAft>
              <a:defRPr sz="1800"/>
            </a:pPr>
            <a:r>
              <a:t>☕ Starbucks: LEED-certified stores, ethically sourced coffee</a:t>
            </a:r>
          </a:p>
          <a:p>
            <a:pPr>
              <a:spcAft>
                <a:spcPts val="1200"/>
              </a:spcAft>
              <a:defRPr sz="1800"/>
            </a:pPr>
            <a:r>
              <a:t>🚗 Tesla: Electric vehicles, solar energy solutions</a:t>
            </a:r>
          </a:p>
          <a:p>
            <a:pPr>
              <a:spcAft>
                <a:spcPts val="1200"/>
              </a:spcAft>
              <a:defRPr sz="1800"/>
            </a:pPr>
            <a:r>
              <a:t>📦 IKEA: Sustainable materials, circular business model</a:t>
            </a:r>
          </a:p>
          <a:p>
            <a:pPr>
              <a:spcAft>
                <a:spcPts val="1200"/>
              </a:spcAft>
              <a:defRPr sz="1800"/>
            </a:pPr>
            <a:r>
              <a:t>💻 Microsoft: Carbon negative by 2030 commitment</a:t>
            </a:r>
          </a:p>
          <a:p>
            <a:pPr>
              <a:spcAft>
                <a:spcPts val="1200"/>
              </a:spcAft>
              <a:defRPr sz="1800"/>
            </a:pPr>
            <a:r>
              <a:t>🏭 Interface: Mission Zero - zero environmental footprint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Creating Your 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1️⃣ Conduct a sustainability audit of current practices</a:t>
            </a:r>
          </a:p>
          <a:p>
            <a:pPr>
              <a:spcAft>
                <a:spcPts val="1200"/>
              </a:spcAft>
              <a:defRPr sz="1800"/>
            </a:pPr>
            <a:r>
              <a:t>2️⃣ Set clear, measurable goals with timelines</a:t>
            </a:r>
          </a:p>
          <a:p>
            <a:pPr>
              <a:spcAft>
                <a:spcPts val="1200"/>
              </a:spcAft>
              <a:defRPr sz="1800"/>
            </a:pPr>
            <a:r>
              <a:t>3️⃣ Secure leadership commitment and budget allocation</a:t>
            </a:r>
          </a:p>
          <a:p>
            <a:pPr>
              <a:spcAft>
                <a:spcPts val="1200"/>
              </a:spcAft>
              <a:defRPr sz="1800"/>
            </a:pPr>
            <a:r>
              <a:t>4️⃣ Form a green team with representatives from all departments</a:t>
            </a:r>
          </a:p>
          <a:p>
            <a:pPr>
              <a:spcAft>
                <a:spcPts val="1200"/>
              </a:spcAft>
              <a:defRPr sz="1800"/>
            </a:pPr>
            <a:r>
              <a:t>5️⃣ Prioritize quick wins for early momentum</a:t>
            </a:r>
          </a:p>
          <a:p>
            <a:pPr>
              <a:spcAft>
                <a:spcPts val="1200"/>
              </a:spcAft>
              <a:defRPr sz="1800"/>
            </a:pPr>
            <a:r>
              <a:t>6️⃣ Implement changes systematically, starting with high-impact areas</a:t>
            </a:r>
          </a:p>
          <a:p>
            <a:pPr>
              <a:spcAft>
                <a:spcPts val="1200"/>
              </a:spcAft>
              <a:defRPr sz="1800"/>
            </a:pPr>
            <a:r>
              <a:t>7️⃣ Monitor progress, adjust strategies, and celebrate successes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Helpful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🌐 EPA Green Business Resources (epa.gov/greenbusiness)</a:t>
            </a:r>
          </a:p>
          <a:p>
            <a:pPr>
              <a:spcAft>
                <a:spcPts val="1200"/>
              </a:spcAft>
              <a:defRPr sz="1800"/>
            </a:pPr>
            <a:r>
              <a:t>⭐ Energy Star for Business (energystar.gov)</a:t>
            </a:r>
          </a:p>
          <a:p>
            <a:pPr>
              <a:spcAft>
                <a:spcPts val="1200"/>
              </a:spcAft>
              <a:defRPr sz="1800"/>
            </a:pPr>
            <a:r>
              <a:t>🏢 U.S. Green Building Council (usgbc.org)</a:t>
            </a:r>
          </a:p>
          <a:p>
            <a:pPr>
              <a:spcAft>
                <a:spcPts val="1200"/>
              </a:spcAft>
              <a:defRPr sz="1800"/>
            </a:pPr>
            <a:r>
              <a:t>♻️ Zero Waste International Alliance (zwia.org)</a:t>
            </a:r>
          </a:p>
          <a:p>
            <a:pPr>
              <a:spcAft>
                <a:spcPts val="1200"/>
              </a:spcAft>
              <a:defRPr sz="1800"/>
            </a:pPr>
            <a:r>
              <a:t>🌍 UN Sustainable Development Goals (sdgs.un.org)</a:t>
            </a:r>
          </a:p>
          <a:p>
            <a:pPr>
              <a:spcAft>
                <a:spcPts val="1200"/>
              </a:spcAft>
              <a:defRPr sz="1800"/>
            </a:pPr>
            <a:r>
              <a:t>📊 Global Reporting Initiative (globalreporting.org)</a:t>
            </a:r>
          </a:p>
          <a:p>
            <a:pPr>
              <a:spcAft>
                <a:spcPts val="1200"/>
              </a:spcAft>
              <a:defRPr sz="1800"/>
            </a:pPr>
            <a:r>
              <a:t>💼 B Corporation Certification (bcorporation.net)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The Path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🌱 Every small action contributes to meaningful change</a:t>
            </a:r>
          </a:p>
          <a:p>
            <a:pPr>
              <a:spcAft>
                <a:spcPts val="1200"/>
              </a:spcAft>
              <a:defRPr sz="1800"/>
            </a:pPr>
            <a:r>
              <a:t>🤝 Sustainability is a journey, not a destination</a:t>
            </a:r>
          </a:p>
          <a:p>
            <a:pPr>
              <a:spcAft>
                <a:spcPts val="1200"/>
              </a:spcAft>
              <a:defRPr sz="1800"/>
            </a:pPr>
            <a:r>
              <a:t>💪 Employee engagement is key to success</a:t>
            </a:r>
          </a:p>
          <a:p>
            <a:pPr>
              <a:spcAft>
                <a:spcPts val="1200"/>
              </a:spcAft>
              <a:defRPr sz="1800"/>
            </a:pPr>
            <a:r>
              <a:t>📈 Green practices benefit both planet and profit</a:t>
            </a:r>
          </a:p>
          <a:p>
            <a:pPr>
              <a:spcAft>
                <a:spcPts val="1200"/>
              </a:spcAft>
              <a:defRPr sz="1800"/>
            </a:pPr>
            <a:r>
              <a:t>🌍 Your workplace can be a catalyst for positive environmental impact</a:t>
            </a:r>
          </a:p>
          <a:p>
            <a:pPr>
              <a:spcAft>
                <a:spcPts val="1200"/>
              </a:spcAft>
              <a:defRPr sz="1800"/>
            </a:pPr>
            <a:r>
              <a:t>🚀 Start today - the future depends on actions we take now</a:t>
            </a:r>
          </a:p>
          <a:p>
            <a:pPr>
              <a:spcAft>
                <a:spcPts val="1200"/>
              </a:spcAft>
              <a:defRPr sz="1800"/>
            </a:pPr>
            <a:r>
              <a:t>✨ Together, we can create a sustainable workplace for generations to come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28B22"/>
                </a:solidFill>
              </a:defRPr>
            </a:pPr>
            <a:r>
              <a:t>Thank You!</a:t>
            </a:r>
          </a:p>
          <a:p>
            <a:pPr algn="ctr">
              <a:spcBef>
                <a:spcPts val="2000"/>
              </a:spcBef>
              <a:defRPr sz="2800">
                <a:solidFill>
                  <a:srgbClr val="3CB371"/>
                </a:solidFill>
              </a:defRPr>
            </a:pPr>
            <a:r>
              <a:t>Let's Build a Sustainable Future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